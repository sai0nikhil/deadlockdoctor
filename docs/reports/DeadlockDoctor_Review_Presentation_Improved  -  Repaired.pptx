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466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F2A37"/>
                </a:solidFill>
                <a:latin typeface="Calibri"/>
              </a:rPr>
              <a:t>Unit tests passed: 24 / 24 (100%)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2456C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Banker's</c:v>
                </c:pt>
                <c:pt idx="1">
                  <c:v>DFS</c:v>
                </c:pt>
                <c:pt idx="2">
                  <c:v>Recovery</c:v>
                </c:pt>
                <c:pt idx="3">
                  <c:v>Prevention</c:v>
                </c:pt>
                <c:pt idx="4">
                  <c:v>Parser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7F-4E00-95DB-2309FE7C76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lang="en-IN" sz="1100" b="0" i="0" u="none" strike="noStrike">
                <a:solidFill>
                  <a:srgbClr val="1F2A37"/>
                </a:solidFill>
                <a:latin typeface="Calibri"/>
              </a:rPr>
              <a:t>Core engine latency (µs)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0.0&quot; µ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Banker's safety (5P×3R)</c:v>
                </c:pt>
                <c:pt idx="1">
                  <c:v>WFG builder</c:v>
                </c:pt>
                <c:pt idx="2">
                  <c:v>3-Color DFS</c:v>
                </c:pt>
                <c:pt idx="3">
                  <c:v>Cost recovery</c:v>
                </c:pt>
                <c:pt idx="4">
                  <c:v>Havender rank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38.5</c:v>
                </c:pt>
                <c:pt idx="1">
                  <c:v>18.100000000000001</c:v>
                </c:pt>
                <c:pt idx="2">
                  <c:v>14.2</c:v>
                </c:pt>
                <c:pt idx="3">
                  <c:v>9.8000000000000007</c:v>
                </c:pt>
                <c:pt idx="4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B0-4183-8A06-A6D317D632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17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CAPSTONE  •  REVIEW 1  (CO-1 TO CO-5)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DeadlockDoctor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Resource Allocation &amp; Deadlock Management System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#11: Banker's Avoidance, 3-Color DFS Detection, Starvation-Aware Cost Recovery &amp; POSIX Concurrency Harness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Core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5204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560320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CLI Shell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SVG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977640"/>
            <a:ext cx="1874520" cy="347472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56032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Parser</a:t>
            </a:r>
            <a:endParaRPr lang="en-US" sz="1000" dirty="0"/>
          </a:p>
        </p:txBody>
      </p:sp>
      <p:pic>
        <p:nvPicPr>
          <p:cNvPr id="15" name="Image 0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548640"/>
            <a:ext cx="3886200" cy="216712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800600" y="297180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6293D"/>
          </a:solidFill>
          <a:ln w="9525">
            <a:solidFill>
              <a:srgbClr val="2B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502920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3429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Nikhil Vukka  ([Student 1 Roll No])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2 Name]  ([Student 2 Roll No])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3 Name]  ([Student 3 Roll No])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•  PROJECT IDENTIFICATION &amp; FORMULATION  •  5 MARKS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Core Objectives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3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Concurrency Deadlock Crisis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runtimes freeze when contention satisfies all 4 Coffman conditions at once: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66928" y="189280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66928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892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Mutexes, GPU and disks are held exclusively.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7830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24328" y="189280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624328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1892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Wait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keep resources while waiting for more.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285292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6692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reclaim would corrupt application state.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2743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624328" y="2852928"/>
            <a:ext cx="274320" cy="274320"/>
          </a:xfrm>
          <a:prstGeom prst="ellipse">
            <a:avLst/>
          </a:prstGeom>
          <a:solidFill>
            <a:srgbClr val="C93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2432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2852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24328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chains trap threads indefinitely.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BE9E9"/>
          </a:solidFill>
          <a:ln w="6350">
            <a:solidFill>
              <a:srgbClr val="F0BA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94360" y="3886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fallbacks fail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timeouts and blind SIGKILL restarts cause data loss, wasted CPU and cascading pipeline starvation.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 &amp; Technical Scope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41732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64608" y="1517904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4864608" y="151790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Avoidance Engine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Banker's Algorithm with safe-sequence check, O(P²×R).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1956816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64608" y="2057400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864608" y="205740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20025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Detection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3-Color DFS on Wait-For Graphs in O(V+E) plus multi-instance reduction.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249631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64608" y="2596896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864608" y="259689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257800" y="25420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Starvation-Aware Recovery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Multi-attribute cost metric C(Pi) picks the best victim to abort.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035808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864608" y="3136392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4864608" y="31363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257800" y="30815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Havender's Prevention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resource ordering and hold-and-wait validation.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3575304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864608" y="3675888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4864608" y="36758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257800" y="362102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POSIX Watchdog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live mutex deadlocks in &lt;100 ms with thread-safe telemetry.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411480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64608" y="4215384"/>
            <a:ext cx="283464" cy="283464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4864608" y="421538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257800" y="41605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Diagnostic UI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CLI shell with OS passthrough + modern SVG web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•  REQUIREMENTS ANALYSIS  •  10 MARKS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Specifications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2456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 (FR-01 to FR-06)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66928" y="149047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51790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State Matrices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Allocation, Need, Max and Available for up to 64 processes &amp; 32 resources.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25396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66928" y="2025396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0528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Safety Engine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grants and derives a safe sequence before any state commit.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66928" y="2560320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587752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3-Color DFS Traversal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bipartite RAG and reduced WFG; finds back-edges in O(V+E).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95244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" y="3095244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122676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Matrix Reduction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contention sets for multi-instance resource types.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30168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66928" y="3630168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65760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Recovery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victim policies: cheapest, lowest priority, fewest resources, starvation-safe.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6509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66928" y="416509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19252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Guard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Havender's linear ordering and pre-allocation protocols.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D982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489204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 (NFR-01 to NFR-05)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149047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864608" y="149047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68112" y="151790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Response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 and safety checks run in &lt;50 µs.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25396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864608" y="2025396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68112" y="20528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Memory Leaks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clean under AddressSanitizer and UBSan.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0320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4864608" y="2560320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68112" y="2587752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Thread-Safety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mutexes protect every matrix state transition.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95244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4864608" y="3095244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468112" y="3122676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ISO C11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-std=c11 -Wall -Wextra -Wpedantic with 0 warnings or errors.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630168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864608" y="3630168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468112" y="365760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Scenario Parser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replay of .dd scripts for regression testing.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165092"/>
            <a:ext cx="393192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4864608" y="4165092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468112" y="4192524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ANSI-colored CLI REPL + REST/JSON exporter for the SVG web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•  DESIGN &amp; ARCHITECTURE  •  10 MARKS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Execution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EAF0FD"/>
          </a:solidFill>
          <a:ln w="19050">
            <a:solidFill>
              <a:srgbClr val="245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30352" y="10058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Interactive CLI Shell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with auto-complete, history &amp; OS passthrough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1EAFB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456432" y="10058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Scenario File Parser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.dd scripts (reproducible benchmarks)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E3F5F2"/>
          </a:solidFill>
          <a:ln w="1905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382512" y="100584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Web GUI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SVG graphs &amp; matrix inspector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30352" y="1938528"/>
            <a:ext cx="808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Engine &amp; State Repository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Allocation, Need, Max, Available matrices (thread-safe mutex)  •  Mode switcher: Avoidance | Detection | Prevention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EAF0FD"/>
          </a:solidFill>
          <a:ln w="19050">
            <a:solidFill>
              <a:srgbClr val="245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30352" y="288036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Avoidance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grant  •  safety search O(P²×R)  •  Safe: grant / Unsafe: block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88036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BE9E9"/>
          </a:solidFill>
          <a:ln w="19050">
            <a:solidFill>
              <a:srgbClr val="C93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456432" y="288036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WFG builder  •  3-Color DFS back-edge search  •  multi-instance reduction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DF3E1"/>
          </a:solidFill>
          <a:ln w="19050">
            <a:solidFill>
              <a:srgbClr val="D982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382512" y="288036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Havender's resource ordering  •  hold-and-wait enforcer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0233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9050">
            <a:solidFill>
              <a:srgbClr val="C93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456432" y="402336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Recovery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C(Pi) = wp·P + wh·H + ww·W − ws·S  •  optimal victim abort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E3F5F2"/>
          </a:solidFill>
          <a:ln w="1905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30352" y="402336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Commit &amp; Unblocking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released / allocated  •  blocked queues awakened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382512" y="402336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Topology &amp; Telemetry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matrices  •  SVG graphs  •  audit logs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0" y="1572768"/>
            <a:ext cx="0" cy="365760"/>
          </a:xfrm>
          <a:prstGeom prst="line">
            <a:avLst/>
          </a:prstGeom>
          <a:noFill/>
          <a:ln w="22225">
            <a:solidFill>
              <a:srgbClr val="2456C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1188720" y="1664208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1572768"/>
            <a:ext cx="0" cy="365760"/>
          </a:xfrm>
          <a:prstGeom prst="line">
            <a:avLst/>
          </a:prstGeom>
          <a:noFill/>
          <a:ln w="2222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114800" y="1664208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.dd script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98080" y="1572768"/>
            <a:ext cx="0" cy="36576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040880" y="1664208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45920" y="2505456"/>
            <a:ext cx="0" cy="374904"/>
          </a:xfrm>
          <a:prstGeom prst="line">
            <a:avLst/>
          </a:prstGeom>
          <a:noFill/>
          <a:ln w="22225">
            <a:solidFill>
              <a:srgbClr val="2456C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1188720" y="2606040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Avoid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2505456"/>
            <a:ext cx="0" cy="374904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4114800" y="2606040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Detect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98080" y="2505456"/>
            <a:ext cx="0" cy="374904"/>
          </a:xfrm>
          <a:prstGeom prst="line">
            <a:avLst/>
          </a:prstGeom>
          <a:noFill/>
          <a:ln w="22225">
            <a:solidFill>
              <a:srgbClr val="D9820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7040880" y="2606040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Prevent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0" y="3630168"/>
            <a:ext cx="0" cy="393192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1188720" y="3739896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path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3630168"/>
            <a:ext cx="0" cy="393192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114800" y="3739896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Deadlock!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0" y="3630168"/>
            <a:ext cx="0" cy="393192"/>
          </a:xfrm>
          <a:prstGeom prst="line">
            <a:avLst/>
          </a:prstGeom>
          <a:noFill/>
          <a:ln w="22225">
            <a:solidFill>
              <a:srgbClr val="0B1B2B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7040880" y="3739896"/>
            <a:ext cx="914400" cy="182880"/>
          </a:xfrm>
          <a:prstGeom prst="rect">
            <a:avLst/>
          </a:prstGeom>
          <a:solidFill>
            <a:srgbClr val="F3F6F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 flipH="1">
            <a:off x="2834640" y="4343400"/>
            <a:ext cx="54864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•  ALGORITHMIC RIGOR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 Graph Topologies &amp; Formulations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663440" y="105156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RAG (processes + resources)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155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Wait-For Graph (3-Color DFS)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640080" cy="640080"/>
          </a:xfrm>
          <a:prstGeom prst="ellipse">
            <a:avLst/>
          </a:prstGeom>
          <a:solidFill>
            <a:srgbClr val="EAF0FD"/>
          </a:solidFill>
          <a:ln w="2540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914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914400" cy="502920"/>
          </a:xfrm>
          <a:prstGeom prst="rect">
            <a:avLst/>
          </a:prstGeom>
          <a:solidFill>
            <a:srgbClr val="E3F5F2"/>
          </a:solidFill>
          <a:ln w="2540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29184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LockA (R0)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914400" cy="502920"/>
          </a:xfrm>
          <a:prstGeom prst="rect">
            <a:avLst/>
          </a:prstGeom>
          <a:solidFill>
            <a:srgbClr val="E3F5F2"/>
          </a:solidFill>
          <a:ln w="2540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91440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 (R1)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304288"/>
            <a:ext cx="640080" cy="640080"/>
          </a:xfrm>
          <a:prstGeom prst="ellipse">
            <a:avLst/>
          </a:prstGeom>
          <a:solidFill>
            <a:srgbClr val="EAF0FD"/>
          </a:solidFill>
          <a:ln w="2540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42900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1554480" y="1719072"/>
            <a:ext cx="1737360" cy="18288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234440" y="2057400"/>
            <a:ext cx="0" cy="32004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691640" y="2624328"/>
            <a:ext cx="173736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 flipV="1">
            <a:off x="3749040" y="1965960"/>
            <a:ext cx="0" cy="338328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57200" y="29260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cycle: P0 → R1 → P1 → R0 → P0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7800" y="1874520"/>
            <a:ext cx="640080" cy="640080"/>
          </a:xfrm>
          <a:prstGeom prst="ellipse">
            <a:avLst/>
          </a:prstGeom>
          <a:solidFill>
            <a:srgbClr val="FBE9E9"/>
          </a:solidFill>
          <a:ln w="25400">
            <a:solidFill>
              <a:srgbClr val="C93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257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0920" y="1874520"/>
            <a:ext cx="640080" cy="640080"/>
          </a:xfrm>
          <a:prstGeom prst="ellipse">
            <a:avLst/>
          </a:prstGeom>
          <a:solidFill>
            <a:srgbClr val="FBE9E9"/>
          </a:solidFill>
          <a:ln w="25400">
            <a:solidFill>
              <a:srgbClr val="C93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3609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2011680"/>
            <a:ext cx="146304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 flipH="1">
            <a:off x="5897880" y="2377440"/>
            <a:ext cx="1463040" cy="0"/>
          </a:xfrm>
          <a:prstGeom prst="line">
            <a:avLst/>
          </a:prstGeom>
          <a:noFill/>
          <a:ln w="22225">
            <a:solidFill>
              <a:srgbClr val="C93C3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76072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waits for P1 (LockB)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waits for P0 (LockA)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29260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cycle search O(V+E)  →  deadlock trapped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9436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Banker's Algorithm &amp; 3-Color DFS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840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Need[i][j] = Max[i][j] − Allocation[i][j]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Finish[i] == false and Need[i] ≤ Work, then Work += Alloc[i]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→ GRAY → BLACK; an edge to a GRAY node confirms a cycle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80060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Metric &amp; Prevention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3840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C(Pi) = wp·Priority + wh·Held + ww·Work − ws·Starve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= argmin C(P) over deadlocked P (lowest score is aborted)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Havender ordering: f(Ri) &lt; f(Rj) makes cycles impossible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ALIGNMENT &amp; RUBRIC COVERAGE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Outcomes (CO-1 to CO-5): Implementation Evidence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118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Domain &amp; Syllabus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Services, System Calls &amp; Shell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REPL shell with command dispatch, help, ANSI table visualizer and native OS passthrough (pwd, ls, cd, cat).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src/main.c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src/ui/visualizer.c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 &amp;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states (RUNNING, BLOCKED, TERMINATED), priority queues, state-vector updates, cost-based abort.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src/core/resource_mgr.c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src/recovery/recovery.c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 &amp; Synchronization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Thread-safe matrix access via POSIX mutexes, lock-race harness and asynchronous watchdog timer.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src/demo/live_demo.c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include/demo/live_demo.h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Management &amp; Runtime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1D/2D matrix allocation; zero leaks under ASan + UBSan (-fsanitize=address,undefined).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src/core/resource_mgr.c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Makefile (make memcheck)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9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Subsystems &amp; Scripting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.dd scenario parser (lexer/tokenizer) for reproducible benchmarks, state dumps and audit logs.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src/scenario/scenario.c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7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scenarios/*.dd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•  VERIFICATION &amp; BENCHMARKING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Tests, Latency &amp; Memory Audit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663440" y="105156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097280"/>
          <a:ext cx="38404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097280"/>
          <a:ext cx="38404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383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4663440" y="3383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59436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Audit &amp; ASan Verification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3749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Sanitizer: 0 bytes leaked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AddressSanitizer: 0 overruns / use-after-free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UBSan: 0 overflows / null dereferences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Valgrind: all heap memory freed on exit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Scenario Matrix  (6 / 6 PASS)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01_bankers_safe.dd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 sequence derived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02_bankers_unsafe.dd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Unsafe request blocked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03_single_cycle.dd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Cycle detected &amp; resolved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04_multi_deadlock.dd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Vector reduction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80060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05_starvation.dd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Penalty protection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720840" y="43708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06_complex_mesh.dd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Dense graph resolved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•  DEMONSTRATION &amp; DELIVERABLES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Execution Suite &amp; Review Deliverables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2456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66928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Interactive CLI REPL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0876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Allocation, Need, Max, Available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&lt;p&gt; &lt;r&gt; &lt;k&gt;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units with safety check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3-Color DFS, print cycle path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victim selection &amp; abort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safe execution sequence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245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&lt;avoid|detect|prev&gt;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engine mode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01568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HTML5 Web Dashboard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50876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canvas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of bipartite RAG and WFG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inspector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Allocation &amp; Available chips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Studio / Warm Cream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backend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micro-server bridges C state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safe / unsafe requests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2697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C93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236208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Real Pthread Race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508760"/>
            <a:ext cx="2359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pthread_mutex_t in reverse order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Worker1: holds A, wants B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Worker2: holds B, wants A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block within 100 ms, breaks it safely</a:t>
            </a:r>
            <a:endParaRPr lang="en-US" sz="10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9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Review-1 milestones met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B1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leaks (ASan)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 µs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C11 + Web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suite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1410</Words>
  <Application>Microsoft Office PowerPoint</Application>
  <PresentationFormat>On-screen Show (16:9)</PresentationFormat>
  <Paragraphs>233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naren.svim@outlook.com</cp:lastModifiedBy>
  <cp:revision>2</cp:revision>
  <dcterms:created xsi:type="dcterms:W3CDTF">2026-09-30T09:24:11Z</dcterms:created>
  <dcterms:modified xsi:type="dcterms:W3CDTF">2026-10-07T04:47:26Z</dcterms:modified>
</cp:coreProperties>
</file>