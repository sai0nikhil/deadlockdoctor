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85800"/>
            <a:ext cx="10728655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24C2C"/>
                </a:solidFill>
              </a:defRPr>
            </a:pPr>
            <a:r>
              <a:t>OPERATING SYSTEMS CAPSTONE • REVIEW - 1 (CO-1 TO CO-5)</a:t>
            </a:r>
          </a:p>
          <a:p>
            <a:pPr>
              <a:defRPr sz="3600" b="1">
                <a:solidFill>
                  <a:srgbClr val="142D4E"/>
                </a:solidFill>
              </a:defRPr>
            </a:pPr>
            <a:r>
              <a:t>DeadlockDoctor</a:t>
            </a:r>
          </a:p>
          <a:p>
            <a:pPr>
              <a:defRPr sz="1350" b="1">
                <a:solidFill>
                  <a:srgbClr val="0F172A"/>
                </a:solidFill>
              </a:defRPr>
            </a:pPr>
            <a:r>
              <a:t>High-Performance Resource Allocation &amp; Deadlock Management System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Use Case #11: Banker's Avoidance, 3-Color DFS Detection, Starvation-Aware Cost Recovery &amp; POSIX Concurrency Harness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Team Members (3 Students):</a:t>
            </a:r>
            <a:br/>
            <a:r>
              <a:t>• [Student 1 Name] ([Student 1 Roll No])</a:t>
            </a:r>
            <a:br/>
            <a:r>
              <a:t>• [Student 2 Name] ([Student 2 Roll No])</a:t>
            </a:r>
            <a:br/>
            <a:r>
              <a:t>• [Student 3 Name] ([Student 3 Roll No])</a:t>
            </a:r>
          </a:p>
          <a:p>
            <a:br/>
            <a:pPr>
              <a:defRPr sz="950">
                <a:solidFill>
                  <a:srgbClr val="1D4ED8"/>
                </a:solidFill>
              </a:defRPr>
            </a:pPr>
            <a:r>
              <a:t>Deliverables: C11 Core Engine • Interactive CLI Shell • HTML5 SVG Dashboard • Scenario Parser</a:t>
            </a:r>
          </a:p>
        </p:txBody>
      </p:sp>
      <p:pic>
        <p:nvPicPr>
          <p:cNvPr id="5" name="Picture 4" descr="deadlockdoctor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51560"/>
            <a:ext cx="4526280" cy="25262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24C2C"/>
                </a:solidFill>
              </a:defRPr>
            </a:pPr>
            <a:r>
              <a:t>SECTION 1: PROJECT IDENTIFICATION &amp; FORMULATION (5 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Problem Statement &amp; Core 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1663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490472"/>
            <a:ext cx="476402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B91C1C"/>
                </a:solidFill>
              </a:defRPr>
            </a:pPr>
            <a:r>
              <a:t>The Concurrency Deadlock Crisis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Multi-threaded OS runtimes frequently freeze due to resource contention satisfying all 4 Coffman conditions simultaneously: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1. Mutual Exclusion: Resources (mutexes, GPU, disks) are non-shareable and held exclusively.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2. Hold and Wait: Processes hold allocated resources while actively waiting for others.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3. No Preemption: OS cannot forcibly reclaim mutexes without corrupting application state.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4. Circular Wait: Cyclic dependency chains leave threads trapped indefinitely.</a:t>
            </a:r>
          </a:p>
          <a:p>
            <a:br/>
            <a:pPr>
              <a:defRPr sz="1000" b="1">
                <a:solidFill>
                  <a:srgbClr val="C24C2C"/>
                </a:solidFill>
              </a:defRPr>
            </a:pPr>
            <a:r>
              <a:t>Traditional Fallback Failures: Static timeouts and blind SIGKILL restarts cause severe data loss, wasted CPU compute, and cascading pipeline starvation.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19379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490472"/>
            <a:ext cx="479145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5803D"/>
                </a:solidFill>
              </a:defRPr>
            </a:pPr>
            <a:r>
              <a:t>Core Objectives &amp; Technical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365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1. Complete Avoidance Engine: Implement Dijkstra's Banker's Algorithm with safe sequence verification in O(P²×R).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2. Sub-Millisecond Detection: Build 3-Color DFS cycle search on Wait-For Graphs (WFG) in O(V+E) + multi-instance reduction.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3. Starvation-Aware Recovery: Formulate multi-attribute cost metric C(Pi) to abort optimal victims and release blocked threads.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4. Havender's Prevention: Enforce linear hierarchical ordering and hold-and-wait validation.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5. Real POSIX Watchdog: Intercept live multithreaded mutex deadlocks in &lt;100ms with thread-safe telemetry.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6. Dual Diagnostic UI: Provide an interactive CLI shell with native OS passthrough + modern SVG web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42D4E"/>
                </a:solidFill>
              </a:defRPr>
            </a:pPr>
            <a:r>
              <a:t>SECTION 2: REQUIREMENTS ANALYSIS (10 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Functional &amp; Non-Functional Engineering Specifications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1663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490472"/>
            <a:ext cx="476402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D4ED8"/>
                </a:solidFill>
              </a:defRPr>
            </a:pPr>
            <a:r>
              <a:t>Functional Requirements (FR-01 to FR-06)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• FR-01 Dynamic State Matrices: Tracks Allocation, Need, Max Claim, and Available matrices up to 64 processes &amp; 32 resources.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FR-02 Banker's Safety Engine: Simulates grants and derives valid execution sequences &lt;P_i1, ..., P_in&gt; before state commits.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FR-03 3-Color DFS Graph Traversal: Constructs bipartite RAG and reduced WFG to identify directed back-edges in O(V+E).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FR-04 Vector Matrix Reduction: Identifies contention sets for multi-instance resource types.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FR-05 Cost-Based Recovery: Evaluates 4 victim selection policies (cheapest, lowest priority, fewest resources, starvation-safe).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FR-06 Prevention Guard: Enforces Havender's linear ordering and pre-allocation protocols.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19379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490472"/>
            <a:ext cx="479145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B45309"/>
                </a:solidFill>
              </a:defRPr>
            </a:pPr>
            <a:r>
              <a:t>Non-Functional Requirements (NFR-01 to NFR-05)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365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• NFR-01 Sub-Millisecond Response: Cycle detection and Banker's safety verification executes in &lt;50 microseconds.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NFR-02 Zero Memory Leaks: 100% clean memory verification under AddressSanitizer (ASan) &amp; UBSan.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NFR-03 Thread-Safety &amp; Concurrency: POSIX mutex synchronization protects all matrix state transitions.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NFR-04 Strict ISO C11 Standards: Built with GCC flags -std=c11 -Wall -Wextra -Wpedantic with 0 warnings/errors.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NFR-05 Extensible Scenario Parser: Deterministic replay of .dd benchmark scripts for regression testing.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I/O Architecture: ANSI colored CLI REPL + REST API JSON exporter for SVG web 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D28D9"/>
                </a:solidFill>
              </a:defRPr>
            </a:pPr>
            <a:r>
              <a:t>SECTION 3: DESIGN &amp; ARCHITECTURE (10 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System Architecture &amp; End-to-End Execution Pipeline Flowchart</a:t>
            </a:r>
          </a:p>
        </p:txBody>
      </p:sp>
      <p:pic>
        <p:nvPicPr>
          <p:cNvPr id="5" name="Picture 4" descr="system_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80160"/>
            <a:ext cx="10637215" cy="62886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42D4E"/>
                </a:solidFill>
              </a:defRPr>
            </a:pPr>
            <a:r>
              <a:t>SECTION 3: ALGORITHMIC RIGOR &amp; FORMULATIONS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Deadlock Graph Topologies &amp; Mathematical Formulations</a:t>
            </a:r>
          </a:p>
        </p:txBody>
      </p:sp>
      <p:pic>
        <p:nvPicPr>
          <p:cNvPr id="5" name="Picture 4" descr="rag_wfg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10637215" cy="451507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3931920"/>
            <a:ext cx="51663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4096512"/>
            <a:ext cx="476402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D4ED8"/>
                </a:solidFill>
              </a:defRPr>
            </a:pPr>
            <a:r>
              <a:t>1. Banker's Algorithm &amp; 3-Color DFS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29768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• Banker's Safety Condition: Need[i][j] = Max[i][j] - Allocation[i][j]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Work Vector Simulation: If Finish[i] == false &amp; Need[i] &lt;= Work =&gt; Work += Alloc[i]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3-Color DFS Cycle Math: WHITE (unvisited) -&gt; GRAY (active in stack) -&gt; BLACK (visited). A directed edge to a GRAY node confirms a deadlock cycle in O(V + 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19379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4096512"/>
            <a:ext cx="479145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5803D"/>
                </a:solidFill>
              </a:defRPr>
            </a:pPr>
            <a:r>
              <a:t>2. Multi-Attribute Penalty Metric &amp; Prevention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297680"/>
            <a:ext cx="482803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• Victim Cost Formula: C(Pi) = wp·Priority(Pi) + wh·Held(Pi) + ww·Work(Pi) - ws·Starve(Pi)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Optimized Selection: Victim = argmin_{P ∈ Deadlocked} C(P) (lowest penalty score is aborted).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Havender's Linear Ordering: Strict ascending resource rank f(Ri) &lt; f(Rj) mathematically guarantees cycle impossibility.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5803D"/>
                </a:solidFill>
              </a:defRPr>
            </a:pPr>
            <a:r>
              <a:t>CURRICULUM ALIGNMENT &amp; RUBRIC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Course Outcomes (CO-1 to CO-5) Implementation Evidence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325880"/>
          <a:ext cx="1063721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4236415"/>
                <a:gridCol w="2468880"/>
              </a:tblGrid>
              <a:tr h="8229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Course Outcome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OS Domain &amp; Syllabus Focus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DeadlockDoctor Implementation Evidence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Code Files &amp; Evidence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24C2C"/>
                          </a:solidFill>
                        </a:defRPr>
                      </a:pPr>
                      <a:r>
                        <a:t>CO-1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OS Services, System Calls &amp; Shell 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Custom interactive REPL shell with command dispatching, help system, ANSI table visualizer, and seamless native OS passthrough (pwd, ls, cd, cat).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src/main.c</a:t>
                      </a:r>
                      <a:br/>
                      <a:r>
                        <a:t>src/ui/visualizer.c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24C2C"/>
                          </a:solidFill>
                        </a:defRPr>
                      </a:pPr>
                      <a:r>
                        <a:t>CO-2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Process Management, States &amp; Scheduling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Process lifecycle control (RUNNING, BLOCKED, TERMINATED), priority queues, state vector updates, and cost-based preemption/abort.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src/core/resource_mgr.c</a:t>
                      </a:r>
                      <a:br/>
                      <a:r>
                        <a:t>src/recovery/recovery.c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24C2C"/>
                          </a:solidFill>
                        </a:defRPr>
                      </a:pPr>
                      <a:r>
                        <a:t>CO-3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Concurrency, Synchronization &amp; Mutexes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Thread-safe matrix access with POSIX mutex locks, multithreaded lock race simulation harness, and asynchronous watchdog timer.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src/demo/live_demo.c</a:t>
                      </a:r>
                      <a:br/>
                      <a:r>
                        <a:t>include/demo/live_demo.h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24C2C"/>
                          </a:solidFill>
                        </a:defRPr>
                      </a:pPr>
                      <a:r>
                        <a:t>CO-4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Memory Management &amp; Runtime Safety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Dynamic 2D/1D matrix allocations, zero leaks verified with AddressSanitizer &amp; UndefinedBehaviorSanitizer (-fsanitize=address,undefined).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src/core/resource_mgr.c</a:t>
                      </a:r>
                      <a:br/>
                      <a:r>
                        <a:t>Makefile (make memcheck)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24C2C"/>
                          </a:solidFill>
                        </a:defRPr>
                      </a:pPr>
                      <a:r>
                        <a:t>CO-5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File Subsystems &amp; Scenario Scripting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Deterministic .dd scenario script parser with lexer/tokenizer for reproducible deadlock benchmarks, state dumps, and audit logs.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src/scenario/scenario.c</a:t>
                      </a:r>
                      <a:br/>
                      <a:r>
                        <a:t>scenarios/*.dd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SECTION 4: VERIFICATION &amp;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Unit Test Suite, Performance Latency &amp; Memory Audit</a:t>
            </a:r>
          </a:p>
        </p:txBody>
      </p:sp>
      <p:pic>
        <p:nvPicPr>
          <p:cNvPr id="5" name="Picture 4" descr="benchmark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80160"/>
            <a:ext cx="6583680" cy="255768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280160"/>
            <a:ext cx="3870655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44968" y="1444752"/>
            <a:ext cx="346831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5803D"/>
                </a:solidFill>
              </a:defRPr>
            </a:pPr>
            <a:r>
              <a:t>Memory Audit &amp; ASan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691640"/>
            <a:ext cx="3504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• Leak Sanitizer: 0 bytes leaked in 0 allocations.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AddressSanitizer: 0 heap buffer overruns / use-after-free.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UndefinedBehavior: 0 integer overflows / null dereferences.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Valgrind Target: All heap memory freed on shell exit.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3840480"/>
            <a:ext cx="3870655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44968" y="4005072"/>
            <a:ext cx="346831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6D28D9"/>
                </a:solidFill>
              </a:defRPr>
            </a:pPr>
            <a:r>
              <a:t>Automated Scenario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251960"/>
            <a:ext cx="3504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F172A"/>
                </a:solidFill>
              </a:defRPr>
            </a:pPr>
            <a:r>
              <a:t>• 01_bankers_safe.dd: Safe sequence derived [PASS]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• 02_bankers_unsafe.dd: Unsafe request blocked [PASS]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• 03_single_instance_cycle.dd: Cycle detected &amp; resolved [PASS]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• 04_multi_instance_deadlock.dd: Vector reduction [PASS]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• 05_starvation_recovery.dd: Penalty protection [PASS]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• 06_complex_mesh.dd: Dense graph resolution [PASS]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24C2C"/>
                </a:solidFill>
              </a:defRPr>
            </a:pPr>
            <a:r>
              <a:t>SECTION 5: DEMONSTRATION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Live Execution Suite, Interactive Shell &amp; Review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3364992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490472"/>
            <a:ext cx="296265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D4ED8"/>
                </a:solidFill>
              </a:defRPr>
            </a:pPr>
            <a:r>
              <a:t>1. Interactive CLI REPL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299923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F172A"/>
                </a:solidFill>
              </a:defRPr>
            </a:pPr>
            <a:r>
              <a:t>• show / matrices: Inspect Allocation, Need, Max &amp; Available tables.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• req &lt;p&gt; &lt;r&gt; &lt;k&gt;: Request resource units with dynamic safety check.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• detect: Run 3-Color DFS on WFG and print cycle path.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• recover: Execute cost penalty victim selection &amp; abort.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• banker: Calculate Banker's safe execution sequence.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• mode &lt;avoid|detect|prev&gt;: Switch engine operating mode.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• OS Passthrough: Execute pwd, ls, cd, cat seamlessly.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1325880"/>
            <a:ext cx="3364992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490472"/>
            <a:ext cx="296265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5803D"/>
                </a:solidFill>
              </a:defRPr>
            </a:pPr>
            <a:r>
              <a:t>2. HTML5 Web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1783080"/>
            <a:ext cx="299923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• Visual Graph Canvas: SVG rendering of Bipartite RAG and Wait-For Graph (WFG).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Live Matrix Inspector: Real-time updates of Allocation &amp; Available chips.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Theme Switcher: Toggle between Dark Studio &amp; Warm Cream palettes.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REST API Backend: Python HTTP micro-server bridging C state to browser.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Interactive Triggers: One-click safe/unsafe request dispatching.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9288" y="1325880"/>
            <a:ext cx="3364992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0456" y="1490472"/>
            <a:ext cx="296265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B91C1C"/>
                </a:solidFill>
              </a:defRPr>
            </a:pPr>
            <a:r>
              <a:t>3. Real Pthread Deadlock Race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1783080"/>
            <a:ext cx="299923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• POSIX Concurrency: Spawns 2 real threads locking pthread_mutex_t in reverse order.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Lock Race Creation: Worker1 holds MutexA -&gt; wants MutexB; Worker2 holds MutexB -&gt; wants MutexA.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Asynchronous Watchdog: Detects blocked state within 100ms and breaks deadlock safely.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Review-1 Outcome: 100% of Review-1 milestones met across CO-1 through CO-5.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486400"/>
            <a:ext cx="10637215" cy="868680"/>
          </a:xfrm>
          <a:prstGeom prst="roundRect">
            <a:avLst/>
          </a:prstGeom>
          <a:solidFill>
            <a:srgbClr val="142D4E"/>
          </a:solidFill>
          <a:ln w="12700">
            <a:solidFill>
              <a:srgbClr val="14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577840"/>
            <a:ext cx="101800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DeadlockDoctor: Production-Grade Resource &amp; Deadlock Management Engine • Fully Verified for Review - 1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Summary: 24/24 Unit Tests Passed • 0 Memory Leaks (ASan) • Sub-millisecond Execution • Complete C11 + Web GUI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